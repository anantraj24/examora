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38BDF8"/>
                </a:solidFill>
              </a:defRPr>
            </a:pPr>
            <a:r>
              <a:t>AEGISEXAM AI (EXAMORA)</a:t>
            </a:r>
          </a:p>
          <a:p>
            <a:pPr>
              <a:spcAft>
                <a:spcPts val="2400"/>
              </a:spcAft>
              <a:defRPr sz="2200">
                <a:solidFill>
                  <a:srgbClr val="F1F5F9"/>
                </a:solidFill>
              </a:defRPr>
            </a:pPr>
            <a:r>
              <a:t>AI-Based Intelligent Examination Platform with Automated Proctoring</a:t>
            </a:r>
            <a:br/>
            <a:r>
              <a:t>and Candidate Performance Analysis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Enterprise Project Defense &amp; Comprehensive Architecture Specification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1.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The Challenge of Scalable, Trustworthy Online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Academic Dishonesty Risks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Unauthorized materials, off-screen device usage, and tab switching.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Impersonation and secondary participants in room.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Screen peeking and coordinated question leaks across test cohorts.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Client clock tampering to manipulate time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Operational Inefficiencies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Manual proctoring does not scale to thousands of simultaneous exam-takers.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Subjective long answers require weeks of manual marking.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Examiner bias and fatigue cause grade inconsistencies across cohorts.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Lack of granular telemetry makes post-exam honor audits impossible.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Infrastructure Constraints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Continuous raw video streaming consumes excessive network bandwidth.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Heavy cloud GPU costs for real-time video stream processing.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Severe privacy and GDPR concerns regarding cloud video storage.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Intermittent network dropouts invalidate student submissions.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2. CORE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Zero-Trust Architecture Powered by Edge ML &amp;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1. Privacy-First Edge Proctoring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MediaPipe Face &amp; Gaze Detection executed entirely client-side.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Raw webcam video never leaves candidate device.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Lightweight 10-second numerical telemetry pulse sent over WebSocket.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2. Zero-Trust Monotonic Engine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Server strictly computes and enforces expiration epoch deadlines.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Client device clocks are completely disregarded.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APScheduler background daemon auto-submits timed-out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3. Deterministic Paper Randomization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Seeded permutations using sha256(exam_id + student_id).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Unique question sequences and option orderings per candidate.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100% reproducible ordering across reconnections and page refreshes.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4. Human-in-the-Loop AI Grading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LLM semantic evaluation with rubric criteria matching.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OCR text extraction for student diagrams and handwritten work.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Examiner grading studio with pre-filled AI grades and annotation canvas.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3.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Three-Tier Distributed Component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Frontend Client (Edge)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React 18 + TypeScript + Vite architecture.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Tailwind / Glassmorphic UI with high contrast.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MediaPipe FaceMesh &amp; BlazeFace edge ML models.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Canvas diagram sketcher &amp; webcam proctor HUD.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Full anti-cheat event interceptors (copy, right-click, blur).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Application Backend (FastAPI)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Asynchronous FastAPI with non-blocking I/O.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JWT Authentication with strict RBAC.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Monotonic exam lifecycle engine &amp; state machine.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WebSocket connection hub with observer broadcast.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Automated objective grader with negative marking.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Data &amp; AI Pipeline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SQLAlchemy 2.0 Async ORM with Alembic migrations.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PostgreSQL 16 / SQLite async persistence.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OpenAI GPT-4o / Gemini AI subjective grading engine.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Tesseract OCR &amp; PIL image thumbnail pipeline.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Docker Compose orchestration with isolated networks.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4. AI PROCTORING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Client-Edge Telemetry &amp; Mathematical Suspicion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Proctoring Telemetry Vector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Face Detection: Flags prolonged candidate absence (absence penalty: +12.0/tick).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Multi-Person Detection: Flags secondary faces entering frame (multi-face penalty: +25.0/tick).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Gaze Estimation: 468 iris landmarks detect off-screen divergence (gaze penalty: +8.0/tick).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Browser Behavioral: Logs tab visibility changes &amp; window blur events (tab penalty: +15.0/switch).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Snapshot Transmission: Only triggered during detected infractions for examiner audit.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Suspicion Metric Formulation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Real-Time Suspicion Score: S in [0.0, 100.0]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S(t+1) = min(100.0, max(0.0, S(t) + delta_events))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Automated Status Transitions: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S &lt; 40.0: Normal / Nominal Integrity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- 40.0 &lt;= S &lt; 80.0: Warning / Proctor Escalation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S &gt;= 80.0: Session FLAGGED for post-exam disqualification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Zero Video Bandwidth: Vector size &lt; 2 KB per heartbeat pulse.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5. EXAM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Cryptographic Deterministic Randomization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Seed Generation Mechanism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Seed = sha256(exam_id + ':' + student_id)[:8] as 32-bit uint.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Deterministic Pseudorandom Number Generator (PRNG).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Blueprint Rules Enforcement: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Custom distribution per difficulty (e.g. 5 Easy, 5 Medium, 2 Hard).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 - Shuffles pool according to seed, slicing exact quotas.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Zero-State Storage: No need to store full question permutations in DB.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Anti-Collusion Properties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Screen-Peeking Immunity: Neighboring students never see identical question sequences.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Option Shuffling: Option A for Candidate 1 is Option D for Candidate 2.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Reconnection Idempotency: Student browser refreshes produce 100% identical ordering.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Audit Trail: Examiners can reproduce candidate view on demand with seed.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6. AI EVALUATION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Hybrid Automated &amp; LLM-Assisted Grading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AI Evaluation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Objective Questions: Evaluated instantly on submission.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Multi-select Partial Credit: (Correct_picked - Wrong_picked) / Total_correct.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Negative Marking: Automatic deduction for wrong answers.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Subjective Evaluation: LLM evaluates text against model answer &amp; rubric.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Provides suggested score, justification, and matched concepts.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Examiner Review Studio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Human-in-the-Loop Control: Examiners inspect AI pre-scores.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One-Click Override: Examiners adjust scores or provide feedback.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Diagram Annotation: Canvas tool to draw highlights and feedback on student sketches.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Cohort Publication: Batch results publication with instant percentile recalculation.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7. PROCTORING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Examiner Mission Control &amp; Live Incident HUD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Live 3x3 Candidate Matrix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Real-time candidate telemetry cards.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Color-coded suspicion badges (Green, Amber, Red).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Instant violation indicators: Face Absent, Multiple Faces, Tab Lost.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WebSocket observer connection broadcasts live alerts to examiners.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Candidate Incident Drawer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Deep-dive audit logs per candidate session.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Chronological violation timeline with exact millisecond timestamps.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Webcam violation snapshots for evidence review.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One-click action: Disqualify candidate or issue proctor warning.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8. PERFORMANCE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Interactive Student Scorecards &amp; Cohort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Student Scorecard Features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Objective vs. subjective mark breakdown.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Question-by-question analysis with correct answer explanations.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Examiner feedback notes and diagram annotations.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Privacy Protection: Proctoring suspicion scores are strictly hidden from students.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Cohort Analytics Dashboard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Bell curve score distribution across score brackets (0-20, 21-40, etc.).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Percentile Rank Calculation: (Scores &lt; Candidate / N) * 100.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Cohort Average, Highest, and Lowest score summaries.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Actionable insights for instructors to identify curriculum gaps.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9. SYSTEM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Comprehensive Stress &amp; Load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Automated Test Suite (10/10 Passing)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End-to-end full exam lifecycle integration test.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Question validation constraints (MCQ 1-correct, positive marks).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Exam configuration rules (duration &gt; 0, blueprint rules).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Deterministic paper generation &amp; option shuffling.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Proctoring suspicion clamping &amp; gaze deflection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Stress Test Benchmark Results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Target: 25+ simultaneous concurrent student sessions.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Throughput: 8.4+ API transactions/sec on single core.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Zero Bottleneck Exceptions: 100% submission completion.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Alembic Database Migrations: Verified 10-table schema versioning.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Frontend Production Bundle: 0 TypeScript / Vite compilation warnings.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10. TECH STACK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Modern Enterprise Full-Stack Appliance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Frontend Stack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React 18 &amp; TypeScript 5.0+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Vite Build Tooling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Tailwind CSS / Glassmorphism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MediaPipe FaceMesh &amp; BlazeFace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HTML5 Canvas API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Native WebSockets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Backend Stack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FastAPI (Python 3.12+ / 3.14)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SQLAlchemy 2.0 Async ORM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Alembic Database Migrations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APScheduler Background Daemon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Pydantic v2 validation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python-jose (JWT) &amp; bcrypt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Deployment &amp; Ops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Docker &amp; Docker Compose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PostgreSQL 16 Alpine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Nginx Reverse Proxy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Locust Load Testing Suite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Automated Pytest CI pipeline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Zero external cloud runtime deps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11.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Delivering the Next Generation of Online Examinations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Key Project Achievements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Complete 8-week syllabus objectives 100% fulfilled.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Privacy-preserving edge AI eliminates server video streaming overhead.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Deterministic paper randomization eliminates cheating collusions.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LLM subjective grading drastically cuts examiner grading turnaround.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Production-ready with Docker, Alembic, and full test suites.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Future Development Scope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Acoustic Proctoring: WebAudio AI model for whisper &amp; background noise detection.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LMS Integration: 1-click Canvas / Moodle LTI 1.3 standard integration.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Mobile Native Applications: React Native / Flutter apps with kiosk mode lock.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Multimodal LLM Grading: Direct vision evaluation of complex mathematical proofs.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